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67" r:id="rId3"/>
    <p:sldId id="268" r:id="rId4"/>
    <p:sldId id="261" r:id="rId5"/>
    <p:sldId id="262" r:id="rId6"/>
    <p:sldId id="259" r:id="rId7"/>
    <p:sldId id="258" r:id="rId8"/>
    <p:sldId id="260" r:id="rId9"/>
    <p:sldId id="263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2"/>
  </p:normalViewPr>
  <p:slideViewPr>
    <p:cSldViewPr snapToGrid="0">
      <p:cViewPr varScale="1">
        <p:scale>
          <a:sx n="93" d="100"/>
          <a:sy n="93" d="100"/>
        </p:scale>
        <p:origin x="20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334517-DCAC-AE42-A300-68BB3DB867B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88322-C01F-414B-9CEB-AA0E504C7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84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8D3A-4457-F8D6-12CA-01F43871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CD34C-BF42-5C39-6377-C5F9D631A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0FA34-EED7-FB34-49D2-DC5A2662C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84DC9-DD05-9670-DDB1-818007C22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FCD7E-E4E4-C349-A224-EC54CE10F1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3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93A7F-0832-8EBF-0FAF-0FE56C3F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8149D-4266-BCB7-ACA2-601F5FB36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4FCC2-7BED-2BA4-1482-714903879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FE47B-B338-85B3-BC3B-5A48C71F3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FCD7E-E4E4-C349-A224-EC54CE10F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71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88322-C01F-414B-9CEB-AA0E504C7D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27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51DA-5952-1F47-932B-04ED2AE0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49B28-8515-8EAC-E8AA-D68794001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C4B95-29BC-A70A-4F55-D5D105CFE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453E8-077D-E16A-AA44-D8CDAB276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88322-C01F-414B-9CEB-AA0E504C7D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36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52FBA-E42B-2016-E05F-EEF7C13FE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EF7A0-3323-5147-3A88-FB3266E6D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C6B9C-CEC8-1EB9-5FCB-D47C81A7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A76B7-00C4-D721-5B3A-7E96D9BF3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DF662-154A-7467-E941-EE99B7F0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1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F943-6D6F-6F29-3E61-51C75F53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38034-86D6-94CD-5B9A-3BC5EC1F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E8848-69C3-F8F2-5F65-8E5AD6F0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690B1-AF77-5C22-2D8F-94ED7AFF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FDF0A-4757-6BEE-E767-7F1AA99F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1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9418-93CD-3655-B28D-0BC141DF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AF121-A400-65B2-9BB6-D80E6F16B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A5E61-31FF-A209-00C4-2CA883F0B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0441-4892-7094-3106-CAC0D3EFD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924F0-588E-0A0A-E27E-92616595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069B7-7592-AD92-18A2-D3B0EB59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F9CE2-7D96-FE74-A82D-A95AD39F6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8A8C3-5E7B-12B9-8BE7-BC3F5BA77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D772B-8764-2157-BD5F-550AEA29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55838-3384-2B1E-839A-0F780334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7F6DA-31AE-E8ED-F1B9-1152D0A5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28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BA834-7868-533B-224E-7C1719F0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1A2B8-8F30-49C0-A923-AB5214CC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DA60B-FFAA-A329-0A10-903242B26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F4FFF5-6113-C77A-AAF1-484C503A3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9D27A-1E71-46A8-25BA-456A6ED3C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6BBF6-5FCE-ACFD-8AB9-EA3681D6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07A3F-9FC3-786A-9537-42255780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B178D1-CF60-02C6-0B2C-F06E5876A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3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EF50-E5D9-04C5-6230-7F2F9CBA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AB9DD-970B-EBD9-5A42-E06883CA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2787E-6BA7-9803-7FA7-A1E19BD8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34D62-04A7-A0A3-92CD-02799C9B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28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9C743-2173-D6B0-C8E4-8AD79D7B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3F5E9-FD83-26A7-B8C1-78BA77C8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6D787-8AB1-EA9E-7CBF-B4534331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7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A663-B139-3719-2976-432DD889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636C5-B167-3DDC-F7DC-1EEA0F91B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C47D6-B4B1-0235-A2B5-6E302E1D9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713C0-3FB3-0DE3-646A-6AE4B9548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BD0FA-35C6-9261-3B1A-DE499158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2347E-51A2-AC03-F316-B7E83DCB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40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02274-9C4E-8A19-45E7-0712EE5F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295FCF-7326-5E1D-C726-B7C318A72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4B580-D589-5CF2-98F4-DE113CC70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E2BF0-A489-BDCD-0295-8412FCED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76190-1124-3659-0BBB-407019CB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D09DA-B2C3-31D6-3EB9-AFE097ED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01D9-C552-6F23-AC98-250B0E4C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EA8AA-9060-5352-A033-CECAE9CF4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0F6E7-D9CD-BF57-B473-A0B22B878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F253D-8114-B639-CD07-B71DFDDD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B3992-F069-40F9-884E-8A12D611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6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A25CFF-2E59-921F-777A-C9C1224EE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2A3F3-6FD2-D2F9-6E03-DC5598909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548BF-B595-59FA-C3CC-9D2231EA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0D27B-46AC-9C91-A927-DB137A5B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90922-847D-DE73-F17D-EC444E34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2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97B9B-3015-B2A9-BE92-1AC8E68E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036CD-3CB0-A3BE-1E9C-7468E7EB1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A71EA-6C04-8434-EEDE-0696B907B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29C40-9C10-A140-8770-7B2396172D36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5512F-4326-0C1C-B68A-96B089979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B2C9E-70CD-291B-7413-1769EB7A9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FFCD5-9C26-2F45-8D95-17777EBE3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26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DA2D-38E5-AB88-83EB-9CB43368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EDC7-C2CE-9E20-D88A-1DBB8C22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cell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69BA3-A06A-7E6A-4D40-2F81B4E31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343 cell (7*7*7 periodic system)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Tolerance: 1 e -6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Initial tissue: s0 = 5, 4.8 (monodisperse)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Task: increase stress by 2.5% of original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170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5198-2FE4-7CD7-B672-AB4E3761F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Picture 294" descr="A graph of a function&#10;&#10;AI-generated content may be incorrect.">
            <a:extLst>
              <a:ext uri="{FF2B5EF4-FFF2-40B4-BE49-F238E27FC236}">
                <a16:creationId xmlns:a16="http://schemas.microsoft.com/office/drawing/2014/main" id="{01A34768-7A98-ACB8-A627-B09AD710A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823" y="4510566"/>
            <a:ext cx="1726879" cy="1726879"/>
          </a:xfrm>
          <a:prstGeom prst="rect">
            <a:avLst/>
          </a:prstGeom>
          <a:ln>
            <a:noFill/>
          </a:ln>
        </p:spPr>
      </p:pic>
      <p:pic>
        <p:nvPicPr>
          <p:cNvPr id="284" name="Picture 283" descr="A graph of a function&#10;&#10;AI-generated content may be incorrect.">
            <a:extLst>
              <a:ext uri="{FF2B5EF4-FFF2-40B4-BE49-F238E27FC236}">
                <a16:creationId xmlns:a16="http://schemas.microsoft.com/office/drawing/2014/main" id="{280BC48E-6267-2686-4E02-9CF52A3AFA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0822" y="2720152"/>
            <a:ext cx="1726878" cy="1726878"/>
          </a:xfrm>
          <a:prstGeom prst="rect">
            <a:avLst/>
          </a:prstGeom>
          <a:ln>
            <a:noFill/>
          </a:ln>
        </p:spPr>
      </p:pic>
      <p:pic>
        <p:nvPicPr>
          <p:cNvPr id="286" name="Picture 285" descr="A graph of a diagram&#10;&#10;AI-generated content may be incorrect.">
            <a:extLst>
              <a:ext uri="{FF2B5EF4-FFF2-40B4-BE49-F238E27FC236}">
                <a16:creationId xmlns:a16="http://schemas.microsoft.com/office/drawing/2014/main" id="{0AF57171-7578-0B25-077E-874EEDBEE9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146" y="2719762"/>
            <a:ext cx="1726879" cy="1726879"/>
          </a:xfrm>
          <a:prstGeom prst="rect">
            <a:avLst/>
          </a:prstGeom>
          <a:ln>
            <a:noFill/>
          </a:ln>
        </p:spPr>
      </p:pic>
      <p:pic>
        <p:nvPicPr>
          <p:cNvPr id="288" name="Picture 287" descr="A graph of a normalized cost&#10;&#10;AI-generated content may be incorrect.">
            <a:extLst>
              <a:ext uri="{FF2B5EF4-FFF2-40B4-BE49-F238E27FC236}">
                <a16:creationId xmlns:a16="http://schemas.microsoft.com/office/drawing/2014/main" id="{DD4B88C9-48F7-2B5D-B127-88589D69DC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46" y="935115"/>
            <a:ext cx="2353396" cy="2353396"/>
          </a:xfrm>
          <a:prstGeom prst="rect">
            <a:avLst/>
          </a:prstGeom>
          <a:ln>
            <a:noFill/>
          </a:ln>
        </p:spPr>
      </p:pic>
      <p:pic>
        <p:nvPicPr>
          <p:cNvPr id="290" name="Picture 289" descr="A red cube with a red object in it&#10;&#10;AI-generated content may be incorrect.">
            <a:extLst>
              <a:ext uri="{FF2B5EF4-FFF2-40B4-BE49-F238E27FC236}">
                <a16:creationId xmlns:a16="http://schemas.microsoft.com/office/drawing/2014/main" id="{9ADF211E-C005-B61E-3D82-1AB3DD5932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2" y="1370669"/>
            <a:ext cx="1215651" cy="1225357"/>
          </a:xfrm>
          <a:prstGeom prst="rect">
            <a:avLst/>
          </a:prstGeom>
          <a:ln>
            <a:noFill/>
          </a:ln>
        </p:spPr>
      </p:pic>
      <p:pic>
        <p:nvPicPr>
          <p:cNvPr id="297" name="Picture 296" descr="A graph of a function&#10;&#10;AI-generated content may be incorrect.">
            <a:extLst>
              <a:ext uri="{FF2B5EF4-FFF2-40B4-BE49-F238E27FC236}">
                <a16:creationId xmlns:a16="http://schemas.microsoft.com/office/drawing/2014/main" id="{22ED743F-C8EA-C278-1A40-0E33A55EF4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7420" y="4510566"/>
            <a:ext cx="1726879" cy="1726879"/>
          </a:xfrm>
          <a:prstGeom prst="rect">
            <a:avLst/>
          </a:prstGeom>
          <a:ln>
            <a:noFill/>
          </a:ln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251BE3A9-7D8B-FD35-9D22-CC3ABEFF26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6862" y="4883298"/>
            <a:ext cx="1726879" cy="1367527"/>
          </a:xfrm>
          <a:prstGeom prst="rect">
            <a:avLst/>
          </a:prstGeom>
          <a:ln>
            <a:noFill/>
          </a:ln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F362DA2D-9010-91FD-E195-A8319FD688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5829" y="3323887"/>
            <a:ext cx="1468946" cy="1186679"/>
          </a:xfrm>
          <a:prstGeom prst="rect">
            <a:avLst/>
          </a:prstGeom>
          <a:ln>
            <a:noFill/>
          </a:ln>
        </p:spPr>
      </p:pic>
      <p:pic>
        <p:nvPicPr>
          <p:cNvPr id="63" name="Picture 62" descr="\documentclass{article}&#10;\usepackage{amsmath, amsthm, amssymb}&#10;\usepackage{helvet}&#10;\newcommand{\vect}[1]{\mathbf{#1}}&#10;\providecommand{\abs}[1]{\lvert#1\rvert}&#10;\providecommand{\norm}[1]{\lVert#1\rVert}&#10;&#10;\pagestyle{empty}&#10;\begin{document}&#10;\begin{align*}&#10;\sigma^{(target)}_{output} = \frac{3}{2} \sigma^{(target)}_{initial}&#10;\end{align*}&#10;\end{document}" title="IguanaTex Picture Display">
            <a:extLst>
              <a:ext uri="{FF2B5EF4-FFF2-40B4-BE49-F238E27FC236}">
                <a16:creationId xmlns:a16="http://schemas.microsoft.com/office/drawing/2014/main" id="{0FE03104-2FE3-0A79-0223-A5EBF3117EB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56188" y="3848255"/>
            <a:ext cx="2578111" cy="584775"/>
          </a:xfrm>
          <a:prstGeom prst="rect">
            <a:avLst/>
          </a:prstGeom>
          <a:ln>
            <a:noFill/>
          </a:ln>
        </p:spPr>
      </p:pic>
      <p:pic>
        <p:nvPicPr>
          <p:cNvPr id="65" name="Picture 64" descr="\documentclass{article}&#10;\usepackage{amsmath, amsthm, amssymb}&#10;\usepackage{helvet}&#10;\newcommand{\vect}[1]{\mathbf{#1}}&#10;\providecommand{\abs}[1]{\lvert#1\rvert}&#10;\providecommand{\norm}[1]{\lVert#1\rVert}&#10;&#10;\pagestyle{empty}&#10;\begin{document}&#10;\begin{align*}&#10;\sigma^{(target)}_{output} = \frac{1}{2} \sigma^{(target)}_{initial}&#10;\end{align*}&#10;\end{document}" title="IguanaTex Picture Display">
            <a:extLst>
              <a:ext uri="{FF2B5EF4-FFF2-40B4-BE49-F238E27FC236}">
                <a16:creationId xmlns:a16="http://schemas.microsoft.com/office/drawing/2014/main" id="{0C2717F4-CA88-7E85-4DE8-82C6B89CB9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1625" y="5054438"/>
            <a:ext cx="2817764" cy="639133"/>
          </a:xfrm>
          <a:prstGeom prst="rect">
            <a:avLst/>
          </a:prstGeom>
          <a:ln>
            <a:noFill/>
          </a:ln>
        </p:spPr>
      </p:pic>
      <p:sp>
        <p:nvSpPr>
          <p:cNvPr id="340" name="TextBox 339">
            <a:extLst>
              <a:ext uri="{FF2B5EF4-FFF2-40B4-BE49-F238E27FC236}">
                <a16:creationId xmlns:a16="http://schemas.microsoft.com/office/drawing/2014/main" id="{91E10AD4-EC85-ADEB-FB2C-EB457DF5487B}"/>
              </a:ext>
            </a:extLst>
          </p:cNvPr>
          <p:cNvSpPr txBox="1"/>
          <p:nvPr/>
        </p:nvSpPr>
        <p:spPr>
          <a:xfrm>
            <a:off x="1796678" y="407805"/>
            <a:ext cx="8753397" cy="5847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Helvetica" pitchFamily="2" charset="0"/>
                <a:cs typeface="Didot" panose="02000503000000020003" pitchFamily="2" charset="-79"/>
              </a:rPr>
              <a:t>Single Cell:</a:t>
            </a:r>
          </a:p>
          <a:p>
            <a:pPr algn="just"/>
            <a:r>
              <a:rPr lang="en-US" sz="1600" dirty="0">
                <a:latin typeface="Helvetica" pitchFamily="2" charset="0"/>
                <a:cs typeface="Didot" panose="02000503000000020003" pitchFamily="2" charset="-79"/>
              </a:rPr>
              <a:t>The algorithm can be applied to train large changes in maximum shear stress on a single cell.</a:t>
            </a:r>
          </a:p>
        </p:txBody>
      </p:sp>
    </p:spTree>
    <p:extLst>
      <p:ext uri="{BB962C8B-B14F-4D97-AF65-F5344CB8AC3E}">
        <p14:creationId xmlns:p14="http://schemas.microsoft.com/office/powerpoint/2010/main" val="68556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4AEB-5C73-763F-EAB8-AD995B56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Picture 283" descr="A graph of a function&#10;&#10;AI-generated content may be incorrect.">
            <a:extLst>
              <a:ext uri="{FF2B5EF4-FFF2-40B4-BE49-F238E27FC236}">
                <a16:creationId xmlns:a16="http://schemas.microsoft.com/office/drawing/2014/main" id="{EA06D8C4-3D35-0C64-FF5F-5A6B814C5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822" y="2720152"/>
            <a:ext cx="1726878" cy="1726878"/>
          </a:xfrm>
          <a:prstGeom prst="rect">
            <a:avLst/>
          </a:prstGeom>
          <a:ln>
            <a:noFill/>
          </a:ln>
        </p:spPr>
      </p:pic>
      <p:pic>
        <p:nvPicPr>
          <p:cNvPr id="286" name="Picture 285" descr="A graph of a diagram&#10;&#10;AI-generated content may be incorrect.">
            <a:extLst>
              <a:ext uri="{FF2B5EF4-FFF2-40B4-BE49-F238E27FC236}">
                <a16:creationId xmlns:a16="http://schemas.microsoft.com/office/drawing/2014/main" id="{CB1F35EA-92ED-D63A-70BD-D2E25DFCF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146" y="2719762"/>
            <a:ext cx="1726879" cy="1726879"/>
          </a:xfrm>
          <a:prstGeom prst="rect">
            <a:avLst/>
          </a:prstGeom>
          <a:ln>
            <a:noFill/>
          </a:ln>
        </p:spPr>
      </p:pic>
      <p:pic>
        <p:nvPicPr>
          <p:cNvPr id="288" name="Picture 287" descr="A graph of a normalized cost&#10;&#10;AI-generated content may be incorrect.">
            <a:extLst>
              <a:ext uri="{FF2B5EF4-FFF2-40B4-BE49-F238E27FC236}">
                <a16:creationId xmlns:a16="http://schemas.microsoft.com/office/drawing/2014/main" id="{A628EC99-4DD6-C767-DAB8-A50250ADC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9614" y="704463"/>
            <a:ext cx="2591011" cy="2591011"/>
          </a:xfrm>
          <a:prstGeom prst="rect">
            <a:avLst/>
          </a:prstGeom>
          <a:ln>
            <a:noFill/>
          </a:ln>
        </p:spPr>
      </p:pic>
      <p:pic>
        <p:nvPicPr>
          <p:cNvPr id="290" name="Picture 289" descr="A red cube with a red object in it&#10;&#10;AI-generated content may be incorrect.">
            <a:extLst>
              <a:ext uri="{FF2B5EF4-FFF2-40B4-BE49-F238E27FC236}">
                <a16:creationId xmlns:a16="http://schemas.microsoft.com/office/drawing/2014/main" id="{5D18FA92-968F-BCDF-D600-A010979F18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2" y="1370669"/>
            <a:ext cx="1215651" cy="1225357"/>
          </a:xfrm>
          <a:prstGeom prst="rect">
            <a:avLst/>
          </a:prstGeom>
          <a:ln>
            <a:noFill/>
          </a:ln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CA94C11C-ED08-E3A7-E1A3-946BEF1230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0001" y="2974115"/>
            <a:ext cx="1468946" cy="1186679"/>
          </a:xfrm>
          <a:prstGeom prst="rect">
            <a:avLst/>
          </a:prstGeom>
          <a:ln>
            <a:noFill/>
          </a:ln>
        </p:spPr>
      </p:pic>
      <p:pic>
        <p:nvPicPr>
          <p:cNvPr id="63" name="Picture 62" descr="\documentclass{article}&#10;\usepackage{amsmath, amsthm, amssymb}&#10;\usepackage{helvet}&#10;\newcommand{\vect}[1]{\mathbf{#1}}&#10;\providecommand{\abs}[1]{\lvert#1\rvert}&#10;\providecommand{\norm}[1]{\lVert#1\rVert}&#10;&#10;\pagestyle{empty}&#10;\begin{document}&#10;\begin{align*}&#10;\sigma^{(target)}_{output} = \frac{3}{2} \sigma^{(target)}_{initial}&#10;\end{align*}&#10;\end{document}" title="IguanaTex Picture Display">
            <a:extLst>
              <a:ext uri="{FF2B5EF4-FFF2-40B4-BE49-F238E27FC236}">
                <a16:creationId xmlns:a16="http://schemas.microsoft.com/office/drawing/2014/main" id="{B4ACC4F0-C967-BC7A-E55D-ECE08389780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870942" y="3291203"/>
            <a:ext cx="2578111" cy="584775"/>
          </a:xfrm>
          <a:prstGeom prst="rect">
            <a:avLst/>
          </a:prstGeom>
          <a:ln>
            <a:noFill/>
          </a:ln>
        </p:spPr>
      </p:pic>
      <p:sp>
        <p:nvSpPr>
          <p:cNvPr id="340" name="TextBox 339">
            <a:extLst>
              <a:ext uri="{FF2B5EF4-FFF2-40B4-BE49-F238E27FC236}">
                <a16:creationId xmlns:a16="http://schemas.microsoft.com/office/drawing/2014/main" id="{714C8926-7B54-2535-1299-109CB9172F20}"/>
              </a:ext>
            </a:extLst>
          </p:cNvPr>
          <p:cNvSpPr txBox="1"/>
          <p:nvPr/>
        </p:nvSpPr>
        <p:spPr>
          <a:xfrm>
            <a:off x="1796678" y="407805"/>
            <a:ext cx="8753397" cy="5847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Helvetica" pitchFamily="2" charset="0"/>
                <a:cs typeface="Didot" panose="02000503000000020003" pitchFamily="2" charset="-79"/>
              </a:rPr>
              <a:t>Single Cell:</a:t>
            </a:r>
          </a:p>
          <a:p>
            <a:pPr algn="just"/>
            <a:r>
              <a:rPr lang="en-US" sz="1600" dirty="0">
                <a:latin typeface="Helvetica" pitchFamily="2" charset="0"/>
                <a:cs typeface="Didot" panose="02000503000000020003" pitchFamily="2" charset="-79"/>
              </a:rPr>
              <a:t>The algorithm can be applied to train large changes in maximum shear stress on a single cell.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4AB9D6-DC3F-5CB1-3087-83B8B72D35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6678" y="4008108"/>
            <a:ext cx="3131751" cy="244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6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08C24-BC01-526D-6044-57244CA38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6F44F-ED4A-3CFF-5F09-85967E4F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226"/>
            <a:ext cx="10515600" cy="1325563"/>
          </a:xfrm>
        </p:spPr>
        <p:txBody>
          <a:bodyPr/>
          <a:lstStyle/>
          <a:p>
            <a:r>
              <a:rPr lang="en-US" dirty="0"/>
              <a:t>Two cell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07A31-D596-D8C3-C7EA-2E35142A8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343 cell (7*7*7 periodic system)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Tolerance: 1 e -6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Initial tissue: s0 = 5 (monodisperse)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Task: increase stress by 2.5% of original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27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91D4F-B8CB-7179-F676-D991AB089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" y="0"/>
            <a:ext cx="3054335" cy="3429000"/>
          </a:xfrm>
          <a:prstGeom prst="rect">
            <a:avLst/>
          </a:prstGeom>
        </p:spPr>
      </p:pic>
      <p:pic>
        <p:nvPicPr>
          <p:cNvPr id="6" name="Picture 5" descr="A graph of a normalized cost&#10;&#10;AI-generated content may be incorrect.">
            <a:extLst>
              <a:ext uri="{FF2B5EF4-FFF2-40B4-BE49-F238E27FC236}">
                <a16:creationId xmlns:a16="http://schemas.microsoft.com/office/drawing/2014/main" id="{AF6B5E9E-7950-7162-8D77-4FBD68356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199" y="2958218"/>
            <a:ext cx="3595527" cy="3595527"/>
          </a:xfrm>
          <a:prstGeom prst="rect">
            <a:avLst/>
          </a:prstGeom>
        </p:spPr>
      </p:pic>
      <p:pic>
        <p:nvPicPr>
          <p:cNvPr id="8" name="Picture 7" descr="A graph with a blue line&#10;&#10;AI-generated content may be incorrect.">
            <a:extLst>
              <a:ext uri="{FF2B5EF4-FFF2-40B4-BE49-F238E27FC236}">
                <a16:creationId xmlns:a16="http://schemas.microsoft.com/office/drawing/2014/main" id="{31BFEB6A-0585-4972-E32B-259CC5E69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890" y="0"/>
            <a:ext cx="3124745" cy="3124745"/>
          </a:xfrm>
          <a:prstGeom prst="rect">
            <a:avLst/>
          </a:prstGeom>
        </p:spPr>
      </p:pic>
      <p:pic>
        <p:nvPicPr>
          <p:cNvPr id="10" name="Picture 9" descr="A graph of a normalized line&#10;&#10;AI-generated content may be incorrect.">
            <a:extLst>
              <a:ext uri="{FF2B5EF4-FFF2-40B4-BE49-F238E27FC236}">
                <a16:creationId xmlns:a16="http://schemas.microsoft.com/office/drawing/2014/main" id="{EA4844F4-64FB-8B91-B05D-3B9CE09DCB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624" y="2958217"/>
            <a:ext cx="3574237" cy="3574237"/>
          </a:xfrm>
          <a:prstGeom prst="rect">
            <a:avLst/>
          </a:prstGeom>
        </p:spPr>
      </p:pic>
      <p:pic>
        <p:nvPicPr>
          <p:cNvPr id="12" name="Picture 11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D6604546-2B71-EA04-8549-378961D2D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633" y="94322"/>
            <a:ext cx="2863896" cy="28638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18C6F1-AE1A-1E0C-36B2-A686CC891CBC}"/>
              </a:ext>
            </a:extLst>
          </p:cNvPr>
          <p:cNvSpPr txBox="1"/>
          <p:nvPr/>
        </p:nvSpPr>
        <p:spPr>
          <a:xfrm>
            <a:off x="472363" y="3524896"/>
            <a:ext cx="35955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Typical Failure Mode: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Cost plateaus to  some high value.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indicates a failure of the clamping procedure. (The desired pattern is inconsistent </a:t>
            </a:r>
          </a:p>
          <a:p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25A5C-9631-DECD-37D9-4460F91E12E5}"/>
              </a:ext>
            </a:extLst>
          </p:cNvPr>
          <p:cNvSpPr txBox="1"/>
          <p:nvPr/>
        </p:nvSpPr>
        <p:spPr>
          <a:xfrm>
            <a:off x="4862945" y="2958217"/>
            <a:ext cx="1759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5DD611-D745-39C9-1BD9-3C08B73B5A66}"/>
              </a:ext>
            </a:extLst>
          </p:cNvPr>
          <p:cNvSpPr txBox="1"/>
          <p:nvPr/>
        </p:nvSpPr>
        <p:spPr>
          <a:xfrm>
            <a:off x="9476508" y="2755413"/>
            <a:ext cx="1759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stress</a:t>
            </a:r>
          </a:p>
        </p:txBody>
      </p:sp>
    </p:spTree>
    <p:extLst>
      <p:ext uri="{BB962C8B-B14F-4D97-AF65-F5344CB8AC3E}">
        <p14:creationId xmlns:p14="http://schemas.microsoft.com/office/powerpoint/2010/main" val="123868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BBC92-1B19-75BA-1401-60E53D5E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388E-E262-242E-DCBA-2B1137A38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A/B, Single cell each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A83D4-A8D6-D0C8-AA4C-A5703BC3A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343 cell (7*7*7 periodic system)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Tolerance: 1 e - 5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Task: </a:t>
            </a:r>
          </a:p>
          <a:p>
            <a:pPr marL="0" indent="0">
              <a:buNone/>
            </a:pPr>
            <a:r>
              <a:rPr lang="en-US" dirty="0"/>
              <a:t>in each pattern, increase stress by 2.5% from original.</a:t>
            </a:r>
          </a:p>
          <a:p>
            <a:pPr marL="0" indent="0">
              <a:buNone/>
            </a:pPr>
            <a:r>
              <a:rPr lang="en-US" dirty="0"/>
              <a:t>Reduce distance between each pattern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12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636EF6-F4F2-6557-B6E1-6C4AAB9C2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37931" y="291544"/>
            <a:ext cx="2518574" cy="25247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245074-AD5A-3707-E196-C7A14AFA0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235" y="273916"/>
            <a:ext cx="2613550" cy="2760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9B717A-60A0-0F2A-14A4-CD513E049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658" y="3085840"/>
            <a:ext cx="4526448" cy="4526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51DD9E-0995-B877-D9BD-A78CF66B0E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73" y="2625437"/>
            <a:ext cx="1918856" cy="1918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8A4072-E6A8-6CB0-CE91-7CA52FF8C8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083" y="1495648"/>
            <a:ext cx="4958097" cy="4958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1F9275-48F0-E3E3-9C9D-CF47B5383A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3350" y="1614447"/>
            <a:ext cx="1918856" cy="19188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40824A-DFFD-BA46-23A0-776D98AEAF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7896" y="1193967"/>
            <a:ext cx="5259778" cy="52597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69AC9D-6952-B44A-3523-66793D1B0A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736" y="2816246"/>
            <a:ext cx="1869765" cy="18697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2CCABF-D9EF-0A79-2337-28E3ECF409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0842" y="1757126"/>
            <a:ext cx="4526447" cy="45264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C6A135-7CF1-A8CC-1D20-4FB0CB3D7F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7779" y="2703642"/>
            <a:ext cx="1968848" cy="19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0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BF883-11B0-84C7-81A0-8E8D6F25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A9A1BF-F1A0-25EC-3399-2D8D4AC1D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38485" y="273916"/>
            <a:ext cx="2518574" cy="25247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D361D4-1E67-595A-FF95-F89704A0B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235" y="273916"/>
            <a:ext cx="2613550" cy="2760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938856-6F4D-33CA-E2C0-2EB86CA6C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87" y="2687782"/>
            <a:ext cx="4014256" cy="40142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6A774A-3DFF-556C-50B0-B04E1D3F969E}"/>
              </a:ext>
            </a:extLst>
          </p:cNvPr>
          <p:cNvSpPr txBox="1"/>
          <p:nvPr/>
        </p:nvSpPr>
        <p:spPr>
          <a:xfrm>
            <a:off x="4357059" y="3679247"/>
            <a:ext cx="70961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Typical Failure Modes: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If the single cell patterns are very different from initial, some s0 parameters get fluid (&gt;5.3); this causes the training to fail (system no longer minimizes)</a:t>
            </a:r>
          </a:p>
          <a:p>
            <a:pPr marL="342900" indent="-342900">
              <a:buAutoNum type="arabicPeriod"/>
            </a:pPr>
            <a:r>
              <a:rPr lang="en-US" dirty="0"/>
              <a:t>If single cells are trained to high precision before switching, the same can happen.</a:t>
            </a:r>
          </a:p>
        </p:txBody>
      </p:sp>
    </p:spTree>
    <p:extLst>
      <p:ext uri="{BB962C8B-B14F-4D97-AF65-F5344CB8AC3E}">
        <p14:creationId xmlns:p14="http://schemas.microsoft.com/office/powerpoint/2010/main" val="2650402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6078EE-FDEB-1DB9-42A5-BFF7ECC7D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809" y="595746"/>
            <a:ext cx="2923934" cy="2937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D2F48C-2870-5FD7-1AF5-595AF9E55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81" y="650314"/>
            <a:ext cx="3125932" cy="2882596"/>
          </a:xfrm>
          <a:prstGeom prst="rect">
            <a:avLst/>
          </a:prstGeom>
        </p:spPr>
      </p:pic>
      <p:pic>
        <p:nvPicPr>
          <p:cNvPr id="7" name="Picture 6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45A573C3-6285-886A-2446-D5284A3B1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666" y="3532910"/>
            <a:ext cx="2614786" cy="2614786"/>
          </a:xfrm>
          <a:prstGeom prst="rect">
            <a:avLst/>
          </a:prstGeom>
        </p:spPr>
      </p:pic>
      <p:pic>
        <p:nvPicPr>
          <p:cNvPr id="9" name="Picture 8" descr="A graph with a blue line&#10;&#10;AI-generated content may be incorrect.">
            <a:extLst>
              <a:ext uri="{FF2B5EF4-FFF2-40B4-BE49-F238E27FC236}">
                <a16:creationId xmlns:a16="http://schemas.microsoft.com/office/drawing/2014/main" id="{A6D49248-97E5-1A8C-9654-17DBE3B6A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26" y="3261072"/>
            <a:ext cx="2985383" cy="2985383"/>
          </a:xfrm>
          <a:prstGeom prst="rect">
            <a:avLst/>
          </a:prstGeom>
        </p:spPr>
      </p:pic>
      <p:pic>
        <p:nvPicPr>
          <p:cNvPr id="11" name="Picture 10" descr="A graph of a line&#10;&#10;AI-generated content may be incorrect.">
            <a:extLst>
              <a:ext uri="{FF2B5EF4-FFF2-40B4-BE49-F238E27FC236}">
                <a16:creationId xmlns:a16="http://schemas.microsoft.com/office/drawing/2014/main" id="{1DA87A54-DC6C-4E49-4831-BD8EC5B50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7452" y="3532910"/>
            <a:ext cx="2441709" cy="2441709"/>
          </a:xfrm>
          <a:prstGeom prst="rect">
            <a:avLst/>
          </a:prstGeom>
        </p:spPr>
      </p:pic>
      <p:pic>
        <p:nvPicPr>
          <p:cNvPr id="13" name="Picture 12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1C7179BA-46BA-7824-4810-D538F7E3F1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0321" y="3532910"/>
            <a:ext cx="2985383" cy="298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75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A094-5061-54A9-9E3F-76701BC1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21CE0D-020B-94A3-DEF4-7650EDDD2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809" y="595746"/>
            <a:ext cx="2923934" cy="2937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E6267-7294-715D-5822-791F40D4D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81" y="650314"/>
            <a:ext cx="3125932" cy="2882596"/>
          </a:xfrm>
          <a:prstGeom prst="rect">
            <a:avLst/>
          </a:prstGeom>
        </p:spPr>
      </p:pic>
      <p:pic>
        <p:nvPicPr>
          <p:cNvPr id="7" name="Picture 6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9299ABB4-3F46-B9D9-71A9-815C624BE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666" y="3532910"/>
            <a:ext cx="2614786" cy="2614786"/>
          </a:xfrm>
          <a:prstGeom prst="rect">
            <a:avLst/>
          </a:prstGeom>
        </p:spPr>
      </p:pic>
      <p:pic>
        <p:nvPicPr>
          <p:cNvPr id="9" name="Picture 8" descr="A graph with a blue line&#10;&#10;AI-generated content may be incorrect.">
            <a:extLst>
              <a:ext uri="{FF2B5EF4-FFF2-40B4-BE49-F238E27FC236}">
                <a16:creationId xmlns:a16="http://schemas.microsoft.com/office/drawing/2014/main" id="{4D3137D3-B594-064F-812A-18F1B53F0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26" y="3261072"/>
            <a:ext cx="2985383" cy="2985383"/>
          </a:xfrm>
          <a:prstGeom prst="rect">
            <a:avLst/>
          </a:prstGeom>
        </p:spPr>
      </p:pic>
      <p:pic>
        <p:nvPicPr>
          <p:cNvPr id="11" name="Picture 10" descr="A graph of a line&#10;&#10;AI-generated content may be incorrect.">
            <a:extLst>
              <a:ext uri="{FF2B5EF4-FFF2-40B4-BE49-F238E27FC236}">
                <a16:creationId xmlns:a16="http://schemas.microsoft.com/office/drawing/2014/main" id="{1DBEA43F-8AB9-F780-BBED-39459F668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7452" y="3532910"/>
            <a:ext cx="2441709" cy="2441709"/>
          </a:xfrm>
          <a:prstGeom prst="rect">
            <a:avLst/>
          </a:prstGeom>
        </p:spPr>
      </p:pic>
      <p:pic>
        <p:nvPicPr>
          <p:cNvPr id="13" name="Picture 12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DCB7538B-BA24-F39D-C6D2-05DBE2D5A4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0321" y="3532910"/>
            <a:ext cx="2985383" cy="298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519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2"/>
  <p:tag name="ORIGINALWIDTH" val=" 1111"/>
  <p:tag name="OUTPUTTYPE" val="PNG"/>
  <p:tag name="IGUANATEXVERSION" val="162"/>
  <p:tag name="LATEXADDIN" val="\documentclass{article}&#10;\usepackage{amsmath, amsthm, amssymb}&#10;\usepackage{helvet}&#10;\newcommand{\vect}[1]{\mathbf{#1}}&#10;\providecommand{\abs}[1]{\lvert#1\rvert}&#10;\providecommand{\norm}[1]{\lVert#1\rVert}&#10;&#10;\pagestyle{empty}&#10;\begin{document}&#10;\begin{align*}&#10;\sigma^{(target)}_{output} = \frac{3}{2} \sigma^{(target)}_{initial}&#10;\end{align*}&#10;\end{document}"/>
  <p:tag name="IGUANATEXSIZE" val="8"/>
  <p:tag name="IGUANATEXCURSOR" val="81"/>
  <p:tag name="TRANSPARENCY" val="True"/>
  <p:tag name="CHOOSECOLOR" val="False"/>
  <p:tag name="COLORHEX" val="000000"/>
  <p:tag name="LATEXENGINEID" val="0"/>
  <p:tag name="TEMPFOLDER" val="/Users/shabeebamee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2"/>
  <p:tag name="ORIGINALWIDTH" val=" 1111"/>
  <p:tag name="OUTPUTTYPE" val="PNG"/>
  <p:tag name="IGUANATEXVERSION" val="162"/>
  <p:tag name="LATEXADDIN" val="\documentclass{article}&#10;\usepackage{amsmath, amsthm, amssymb}&#10;\usepackage{helvet}&#10;\newcommand{\vect}[1]{\mathbf{#1}}&#10;\providecommand{\abs}[1]{\lvert#1\rvert}&#10;\providecommand{\norm}[1]{\lVert#1\rVert}&#10;&#10;\pagestyle{empty}&#10;\begin{document}&#10;\begin{align*}&#10;\sigma^{(target)}_{output} = \frac{1}{2} \sigma^{(target)}_{initial}&#10;\end{align*}&#10;\end{document}"/>
  <p:tag name="IGUANATEXSIZE" val="8"/>
  <p:tag name="IGUANATEXCURSOR" val="81"/>
  <p:tag name="TRANSPARENCY" val="True"/>
  <p:tag name="CHOOSECOLOR" val="False"/>
  <p:tag name="COLORHEX" val="000000"/>
  <p:tag name="LATEXENGINEID" val="0"/>
  <p:tag name="TEMPFOLDER" val="/Users/shabeebamee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2"/>
  <p:tag name="ORIGINALWIDTH" val=" 1111"/>
  <p:tag name="OUTPUTTYPE" val="PNG"/>
  <p:tag name="IGUANATEXVERSION" val="162"/>
  <p:tag name="LATEXADDIN" val="\documentclass{article}&#10;\usepackage{amsmath, amsthm, amssymb}&#10;\usepackage{helvet}&#10;\newcommand{\vect}[1]{\mathbf{#1}}&#10;\providecommand{\abs}[1]{\lvert#1\rvert}&#10;\providecommand{\norm}[1]{\lVert#1\rVert}&#10;&#10;\pagestyle{empty}&#10;\begin{document}&#10;\begin{align*}&#10;\sigma^{(target)}_{output} = \frac{3}{2} \sigma^{(target)}_{initial}&#10;\end{align*}&#10;\end{document}"/>
  <p:tag name="IGUANATEXSIZE" val="8"/>
  <p:tag name="IGUANATEXCURSOR" val="81"/>
  <p:tag name="TRANSPARENCY" val="True"/>
  <p:tag name="CHOOSECOLOR" val="False"/>
  <p:tag name="COLORHEX" val="000000"/>
  <p:tag name="LATEXENGINEID" val="0"/>
  <p:tag name="TEMPFOLDER" val="/Users/shabeebameen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10736</TotalTime>
  <Words>237</Words>
  <Application>Microsoft Macintosh PowerPoint</Application>
  <PresentationFormat>Widescreen</PresentationFormat>
  <Paragraphs>41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Helvetica</vt:lpstr>
      <vt:lpstr>Office Theme</vt:lpstr>
      <vt:lpstr>Single cell training</vt:lpstr>
      <vt:lpstr>PowerPoint Presentation</vt:lpstr>
      <vt:lpstr>PowerPoint Presentation</vt:lpstr>
      <vt:lpstr>Two cell training</vt:lpstr>
      <vt:lpstr>PowerPoint Presentation</vt:lpstr>
      <vt:lpstr>Patterns A/B, Single cell each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Shabeeb Ameen</dc:creator>
  <cp:lastModifiedBy>Shabeeb Ameen</cp:lastModifiedBy>
  <cp:revision>4</cp:revision>
  <dcterms:created xsi:type="dcterms:W3CDTF">2025-08-24T18:30:15Z</dcterms:created>
  <dcterms:modified xsi:type="dcterms:W3CDTF">2025-09-01T05:26:46Z</dcterms:modified>
</cp:coreProperties>
</file>